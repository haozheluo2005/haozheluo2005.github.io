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3"/>
  </p:sldIdLst>
  <p:sldSz cx="7559675" cy="46799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1E1"/>
    <a:srgbClr val="E9F2E1"/>
    <a:srgbClr val="F3DEDE"/>
    <a:srgbClr val="E9F7FE"/>
    <a:srgbClr val="0F9ED5"/>
    <a:srgbClr val="E6E6E6"/>
    <a:srgbClr val="B7B7B7"/>
    <a:srgbClr val="E1E1E1"/>
    <a:srgbClr val="BA292D"/>
    <a:srgbClr val="017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706" autoAdjust="0"/>
    <p:restoredTop sz="94660"/>
  </p:normalViewPr>
  <p:slideViewPr>
    <p:cSldViewPr snapToGrid="0">
      <p:cViewPr>
        <p:scale>
          <a:sx n="121" d="100"/>
          <a:sy n="121" d="100"/>
        </p:scale>
        <p:origin x="1488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45151" y="765935"/>
            <a:ext cx="5670908" cy="1629371"/>
          </a:xfrm>
        </p:spPr>
        <p:txBody>
          <a:bodyPr anchor="b"/>
          <a:lstStyle>
            <a:lvl1pPr algn="ctr">
              <a:defRPr sz="409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45151" y="2458140"/>
            <a:ext cx="5670908" cy="1129942"/>
          </a:xfrm>
        </p:spPr>
        <p:txBody>
          <a:bodyPr/>
          <a:lstStyle>
            <a:lvl1pPr marL="0" indent="0" algn="ctr">
              <a:buNone/>
              <a:defRPr sz="1645"/>
            </a:lvl1pPr>
            <a:lvl2pPr marL="312420" indent="0" algn="ctr">
              <a:buNone/>
              <a:defRPr sz="1365"/>
            </a:lvl2pPr>
            <a:lvl3pPr marL="623570" indent="0" algn="ctr">
              <a:buNone/>
              <a:defRPr sz="1230"/>
            </a:lvl3pPr>
            <a:lvl4pPr marL="936625" indent="0" algn="ctr">
              <a:buNone/>
              <a:defRPr sz="1090"/>
            </a:lvl4pPr>
            <a:lvl5pPr marL="1247775" indent="0" algn="ctr">
              <a:buNone/>
              <a:defRPr sz="1090"/>
            </a:lvl5pPr>
            <a:lvl6pPr marL="1560195" indent="0" algn="ctr">
              <a:buNone/>
              <a:defRPr sz="1090"/>
            </a:lvl6pPr>
            <a:lvl7pPr marL="1872615" indent="0" algn="ctr">
              <a:buNone/>
              <a:defRPr sz="1090"/>
            </a:lvl7pPr>
            <a:lvl8pPr marL="2183765" indent="0" algn="ctr">
              <a:buNone/>
              <a:defRPr sz="1090"/>
            </a:lvl8pPr>
            <a:lvl9pPr marL="2496185" indent="0" algn="ctr">
              <a:buNone/>
              <a:defRPr sz="109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895" y="1166777"/>
            <a:ext cx="6521544" cy="1946794"/>
          </a:xfrm>
        </p:spPr>
        <p:txBody>
          <a:bodyPr anchor="b"/>
          <a:lstStyle>
            <a:lvl1pPr>
              <a:defRPr sz="409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5895" y="3131989"/>
            <a:ext cx="6521544" cy="1023773"/>
          </a:xfrm>
        </p:spPr>
        <p:txBody>
          <a:bodyPr/>
          <a:lstStyle>
            <a:lvl1pPr marL="0" indent="0">
              <a:buNone/>
              <a:defRPr sz="1645">
                <a:solidFill>
                  <a:schemeClr val="tx1">
                    <a:tint val="82000"/>
                  </a:schemeClr>
                </a:solidFill>
              </a:defRPr>
            </a:lvl1pPr>
            <a:lvl2pPr marL="312420" indent="0">
              <a:buNone/>
              <a:defRPr sz="1365">
                <a:solidFill>
                  <a:schemeClr val="tx1">
                    <a:tint val="82000"/>
                  </a:schemeClr>
                </a:solidFill>
              </a:defRPr>
            </a:lvl2pPr>
            <a:lvl3pPr marL="623570" indent="0">
              <a:buNone/>
              <a:defRPr sz="1230">
                <a:solidFill>
                  <a:schemeClr val="tx1">
                    <a:tint val="82000"/>
                  </a:schemeClr>
                </a:solidFill>
              </a:defRPr>
            </a:lvl3pPr>
            <a:lvl4pPr marL="93662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4pPr>
            <a:lvl5pPr marL="124777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5pPr>
            <a:lvl6pPr marL="156019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6pPr>
            <a:lvl7pPr marL="187261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7pPr>
            <a:lvl8pPr marL="218376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8pPr>
            <a:lvl9pPr marL="2496185" indent="0">
              <a:buNone/>
              <a:defRPr sz="10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9833" y="1245862"/>
            <a:ext cx="3213515" cy="2969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827863" y="1245862"/>
            <a:ext cx="3213515" cy="2969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818" y="249172"/>
            <a:ext cx="6521544" cy="90460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0818" y="1147277"/>
            <a:ext cx="3198746" cy="562263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65" b="1"/>
            </a:lvl2pPr>
            <a:lvl3pPr marL="623570" indent="0">
              <a:buNone/>
              <a:defRPr sz="1230" b="1"/>
            </a:lvl3pPr>
            <a:lvl4pPr marL="936625" indent="0">
              <a:buNone/>
              <a:defRPr sz="1090" b="1"/>
            </a:lvl4pPr>
            <a:lvl5pPr marL="1247775" indent="0">
              <a:buNone/>
              <a:defRPr sz="1090" b="1"/>
            </a:lvl5pPr>
            <a:lvl6pPr marL="1560195" indent="0">
              <a:buNone/>
              <a:defRPr sz="1090" b="1"/>
            </a:lvl6pPr>
            <a:lvl7pPr marL="1872615" indent="0">
              <a:buNone/>
              <a:defRPr sz="1090" b="1"/>
            </a:lvl7pPr>
            <a:lvl8pPr marL="2183765" indent="0">
              <a:buNone/>
              <a:defRPr sz="1090" b="1"/>
            </a:lvl8pPr>
            <a:lvl9pPr marL="2496185" indent="0">
              <a:buNone/>
              <a:defRPr sz="10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818" y="1709539"/>
            <a:ext cx="3198746" cy="25144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27863" y="1147277"/>
            <a:ext cx="3214499" cy="562263"/>
          </a:xfrm>
        </p:spPr>
        <p:txBody>
          <a:bodyPr anchor="b"/>
          <a:lstStyle>
            <a:lvl1pPr marL="0" indent="0">
              <a:buNone/>
              <a:defRPr sz="1645" b="1"/>
            </a:lvl1pPr>
            <a:lvl2pPr marL="312420" indent="0">
              <a:buNone/>
              <a:defRPr sz="1365" b="1"/>
            </a:lvl2pPr>
            <a:lvl3pPr marL="623570" indent="0">
              <a:buNone/>
              <a:defRPr sz="1230" b="1"/>
            </a:lvl3pPr>
            <a:lvl4pPr marL="936625" indent="0">
              <a:buNone/>
              <a:defRPr sz="1090" b="1"/>
            </a:lvl4pPr>
            <a:lvl5pPr marL="1247775" indent="0">
              <a:buNone/>
              <a:defRPr sz="1090" b="1"/>
            </a:lvl5pPr>
            <a:lvl6pPr marL="1560195" indent="0">
              <a:buNone/>
              <a:defRPr sz="1090" b="1"/>
            </a:lvl6pPr>
            <a:lvl7pPr marL="1872615" indent="0">
              <a:buNone/>
              <a:defRPr sz="1090" b="1"/>
            </a:lvl7pPr>
            <a:lvl8pPr marL="2183765" indent="0">
              <a:buNone/>
              <a:defRPr sz="1090" b="1"/>
            </a:lvl8pPr>
            <a:lvl9pPr marL="2496185" indent="0">
              <a:buNone/>
              <a:defRPr sz="109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827863" y="1709539"/>
            <a:ext cx="3214499" cy="25144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818" y="312007"/>
            <a:ext cx="2438687" cy="1092025"/>
          </a:xfrm>
        </p:spPr>
        <p:txBody>
          <a:bodyPr anchor="b"/>
          <a:lstStyle>
            <a:lvl1pPr>
              <a:defRPr sz="218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14499" y="673849"/>
            <a:ext cx="3827863" cy="3325910"/>
          </a:xfrm>
        </p:spPr>
        <p:txBody>
          <a:bodyPr/>
          <a:lstStyle>
            <a:lvl1pPr>
              <a:defRPr sz="2180"/>
            </a:lvl1pPr>
            <a:lvl2pPr>
              <a:defRPr sz="1915"/>
            </a:lvl2pPr>
            <a:lvl3pPr>
              <a:defRPr sz="1645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818" y="1404032"/>
            <a:ext cx="2438687" cy="2601143"/>
          </a:xfrm>
        </p:spPr>
        <p:txBody>
          <a:bodyPr/>
          <a:lstStyle>
            <a:lvl1pPr marL="0" indent="0">
              <a:buNone/>
              <a:defRPr sz="1090"/>
            </a:lvl1pPr>
            <a:lvl2pPr marL="312420" indent="0">
              <a:buNone/>
              <a:defRPr sz="960"/>
            </a:lvl2pPr>
            <a:lvl3pPr marL="623570" indent="0">
              <a:buNone/>
              <a:defRPr sz="815"/>
            </a:lvl3pPr>
            <a:lvl4pPr marL="936625" indent="0">
              <a:buNone/>
              <a:defRPr sz="685"/>
            </a:lvl4pPr>
            <a:lvl5pPr marL="1247775" indent="0">
              <a:buNone/>
              <a:defRPr sz="685"/>
            </a:lvl5pPr>
            <a:lvl6pPr marL="1560195" indent="0">
              <a:buNone/>
              <a:defRPr sz="685"/>
            </a:lvl6pPr>
            <a:lvl7pPr marL="1872615" indent="0">
              <a:buNone/>
              <a:defRPr sz="685"/>
            </a:lvl7pPr>
            <a:lvl8pPr marL="2183765" indent="0">
              <a:buNone/>
              <a:defRPr sz="685"/>
            </a:lvl8pPr>
            <a:lvl9pPr marL="2496185" indent="0">
              <a:buNone/>
              <a:defRPr sz="6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818" y="312007"/>
            <a:ext cx="2438687" cy="1092025"/>
          </a:xfrm>
        </p:spPr>
        <p:txBody>
          <a:bodyPr anchor="b"/>
          <a:lstStyle>
            <a:lvl1pPr>
              <a:defRPr sz="218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14499" y="673849"/>
            <a:ext cx="3827863" cy="3325910"/>
          </a:xfrm>
        </p:spPr>
        <p:txBody>
          <a:bodyPr/>
          <a:lstStyle>
            <a:lvl1pPr marL="0" indent="0">
              <a:buNone/>
              <a:defRPr sz="2180"/>
            </a:lvl1pPr>
            <a:lvl2pPr marL="312420" indent="0">
              <a:buNone/>
              <a:defRPr sz="1915"/>
            </a:lvl2pPr>
            <a:lvl3pPr marL="623570" indent="0">
              <a:buNone/>
              <a:defRPr sz="1645"/>
            </a:lvl3pPr>
            <a:lvl4pPr marL="936625" indent="0">
              <a:buNone/>
              <a:defRPr sz="1365"/>
            </a:lvl4pPr>
            <a:lvl5pPr marL="1247775" indent="0">
              <a:buNone/>
              <a:defRPr sz="1365"/>
            </a:lvl5pPr>
            <a:lvl6pPr marL="1560195" indent="0">
              <a:buNone/>
              <a:defRPr sz="1365"/>
            </a:lvl6pPr>
            <a:lvl7pPr marL="1872615" indent="0">
              <a:buNone/>
              <a:defRPr sz="1365"/>
            </a:lvl7pPr>
            <a:lvl8pPr marL="2183765" indent="0">
              <a:buNone/>
              <a:defRPr sz="1365"/>
            </a:lvl8pPr>
            <a:lvl9pPr marL="2496185" indent="0">
              <a:buNone/>
              <a:defRPr sz="1365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0818" y="1404032"/>
            <a:ext cx="2438687" cy="2601143"/>
          </a:xfrm>
        </p:spPr>
        <p:txBody>
          <a:bodyPr/>
          <a:lstStyle>
            <a:lvl1pPr marL="0" indent="0">
              <a:buNone/>
              <a:defRPr sz="1090"/>
            </a:lvl1pPr>
            <a:lvl2pPr marL="312420" indent="0">
              <a:buNone/>
              <a:defRPr sz="960"/>
            </a:lvl2pPr>
            <a:lvl3pPr marL="623570" indent="0">
              <a:buNone/>
              <a:defRPr sz="815"/>
            </a:lvl3pPr>
            <a:lvl4pPr marL="936625" indent="0">
              <a:buNone/>
              <a:defRPr sz="685"/>
            </a:lvl4pPr>
            <a:lvl5pPr marL="1247775" indent="0">
              <a:buNone/>
              <a:defRPr sz="685"/>
            </a:lvl5pPr>
            <a:lvl6pPr marL="1560195" indent="0">
              <a:buNone/>
              <a:defRPr sz="685"/>
            </a:lvl6pPr>
            <a:lvl7pPr marL="1872615" indent="0">
              <a:buNone/>
              <a:defRPr sz="685"/>
            </a:lvl7pPr>
            <a:lvl8pPr marL="2183765" indent="0">
              <a:buNone/>
              <a:defRPr sz="685"/>
            </a:lvl8pPr>
            <a:lvl9pPr marL="2496185" indent="0">
              <a:buNone/>
              <a:defRPr sz="6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10991" y="249172"/>
            <a:ext cx="1630386" cy="39661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9833" y="249172"/>
            <a:ext cx="4796643" cy="39661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9833" y="249172"/>
            <a:ext cx="6521544" cy="904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9833" y="1245862"/>
            <a:ext cx="6521544" cy="2969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9833" y="4337766"/>
            <a:ext cx="1701272" cy="2491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ACA1D-B455-4955-8396-38A903038F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04651" y="4337766"/>
            <a:ext cx="2551909" cy="2491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340105" y="4337766"/>
            <a:ext cx="1701272" cy="2491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9724B-CE1D-42C0-8881-8072181DEAD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2357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210" indent="-156210" algn="l" defTabSz="623570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15" kern="1200">
          <a:solidFill>
            <a:schemeClr val="tx1"/>
          </a:solidFill>
          <a:latin typeface="+mn-lt"/>
          <a:ea typeface="+mn-ea"/>
          <a:cs typeface="+mn-cs"/>
        </a:defRPr>
      </a:lvl1pPr>
      <a:lvl2pPr marL="467360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45" kern="1200">
          <a:solidFill>
            <a:schemeClr val="tx1"/>
          </a:solidFill>
          <a:latin typeface="+mn-lt"/>
          <a:ea typeface="+mn-ea"/>
          <a:cs typeface="+mn-cs"/>
        </a:defRPr>
      </a:lvl2pPr>
      <a:lvl3pPr marL="78041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283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4pPr>
      <a:lvl5pPr marL="140398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5pPr>
      <a:lvl6pPr marL="171640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6pPr>
      <a:lvl7pPr marL="202755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7pPr>
      <a:lvl8pPr marL="2340610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8pPr>
      <a:lvl9pPr marL="2652395" indent="-156210" algn="l" defTabSz="623570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1pPr>
      <a:lvl2pPr marL="312420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623570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3pPr>
      <a:lvl4pPr marL="93662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4pPr>
      <a:lvl5pPr marL="124777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5pPr>
      <a:lvl6pPr marL="156019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6pPr>
      <a:lvl7pPr marL="187261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7pPr>
      <a:lvl8pPr marL="218376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8pPr>
      <a:lvl9pPr marL="2496185" algn="l" defTabSz="623570" rtl="0" eaLnBrk="1" latinLnBrk="0" hangingPunct="1">
        <a:defRPr sz="12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image4.wd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圆角矩形 401"/>
          <p:cNvSpPr/>
          <p:nvPr/>
        </p:nvSpPr>
        <p:spPr>
          <a:xfrm>
            <a:off x="2692807" y="1857375"/>
            <a:ext cx="2323672" cy="896620"/>
          </a:xfrm>
          <a:prstGeom prst="roundRect">
            <a:avLst>
              <a:gd name="adj" fmla="val 865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圆角矩形 400"/>
          <p:cNvSpPr/>
          <p:nvPr/>
        </p:nvSpPr>
        <p:spPr>
          <a:xfrm>
            <a:off x="2686867" y="867410"/>
            <a:ext cx="2323672" cy="945515"/>
          </a:xfrm>
          <a:prstGeom prst="roundRect">
            <a:avLst>
              <a:gd name="adj" fmla="val 865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223209" y="747078"/>
            <a:ext cx="2099310" cy="2035175"/>
          </a:xfrm>
          <a:custGeom>
            <a:avLst/>
            <a:gdLst>
              <a:gd name="connsiteX0" fmla="*/ 1 w 3309"/>
              <a:gd name="connsiteY0" fmla="*/ 8 h 3205"/>
              <a:gd name="connsiteX1" fmla="*/ 0 w 3309"/>
              <a:gd name="connsiteY1" fmla="*/ 3205 h 3205"/>
              <a:gd name="connsiteX2" fmla="*/ 1604 w 3309"/>
              <a:gd name="connsiteY2" fmla="*/ 3205 h 3205"/>
              <a:gd name="connsiteX3" fmla="*/ 1604 w 3309"/>
              <a:gd name="connsiteY3" fmla="*/ 1724 h 3205"/>
              <a:gd name="connsiteX4" fmla="*/ 3302 w 3309"/>
              <a:gd name="connsiteY4" fmla="*/ 1727 h 3205"/>
              <a:gd name="connsiteX5" fmla="*/ 3309 w 3309"/>
              <a:gd name="connsiteY5" fmla="*/ 0 h 3205"/>
              <a:gd name="connsiteX6" fmla="*/ 1 w 3309"/>
              <a:gd name="connsiteY6" fmla="*/ 8 h 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09" h="3205">
                <a:moveTo>
                  <a:pt x="1" y="8"/>
                </a:moveTo>
                <a:lnTo>
                  <a:pt x="0" y="3205"/>
                </a:lnTo>
                <a:lnTo>
                  <a:pt x="1604" y="3205"/>
                </a:lnTo>
                <a:lnTo>
                  <a:pt x="1604" y="1724"/>
                </a:lnTo>
                <a:lnTo>
                  <a:pt x="3302" y="1727"/>
                </a:lnTo>
                <a:lnTo>
                  <a:pt x="3309" y="0"/>
                </a:lnTo>
                <a:lnTo>
                  <a:pt x="1" y="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3175">
            <a:noFill/>
            <a:prstDash val="lgDash"/>
          </a:ln>
          <a:effectLst/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7" name="圆角矩形 336"/>
          <p:cNvSpPr/>
          <p:nvPr/>
        </p:nvSpPr>
        <p:spPr>
          <a:xfrm>
            <a:off x="1273682" y="1863297"/>
            <a:ext cx="1048837" cy="918955"/>
          </a:xfrm>
          <a:prstGeom prst="roundRect">
            <a:avLst>
              <a:gd name="adj" fmla="val 4013"/>
            </a:avLst>
          </a:prstGeom>
          <a:solidFill>
            <a:srgbClr val="F3DEDE"/>
          </a:solidFill>
          <a:ln w="0">
            <a:noFill/>
            <a:prstDash val="lg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28" name="圆角矩形 327"/>
          <p:cNvSpPr/>
          <p:nvPr/>
        </p:nvSpPr>
        <p:spPr>
          <a:xfrm>
            <a:off x="2738085" y="3823335"/>
            <a:ext cx="957580" cy="322580"/>
          </a:xfrm>
          <a:prstGeom prst="roundRect">
            <a:avLst>
              <a:gd name="adj" fmla="val 25259"/>
            </a:avLst>
          </a:prstGeom>
          <a:solidFill>
            <a:srgbClr val="E9F1E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168522" y="443865"/>
            <a:ext cx="2197735" cy="3847465"/>
          </a:xfrm>
          <a:prstGeom prst="roundRect">
            <a:avLst>
              <a:gd name="adj" fmla="val 4013"/>
            </a:avLst>
          </a:prstGeom>
          <a:noFill/>
          <a:ln w="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669803" y="741125"/>
            <a:ext cx="16188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 b="1" dirty="0">
                <a:latin typeface="Cambria" panose="02040503050406030204" charset="0"/>
                <a:cs typeface="Cambria" panose="02040503050406030204" charset="0"/>
              </a:rPr>
              <a:t>Reasoning Fixation</a:t>
            </a:r>
            <a:endParaRPr lang="en-US" altLang="zh-CN" sz="10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213995" y="1569426"/>
            <a:ext cx="12901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Cambria" panose="02040503050406030204" charset="0"/>
                <a:cs typeface="Cambria" panose="02040503050406030204" charset="0"/>
              </a:rPr>
              <a:t>Cognitive Bias</a:t>
            </a:r>
            <a:endParaRPr lang="en-US" altLang="zh-CN" sz="8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197485" y="2385695"/>
            <a:ext cx="10318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Cambria" panose="02040503050406030204" charset="0"/>
                <a:cs typeface="Cambria" panose="02040503050406030204" charset="0"/>
              </a:rPr>
              <a:t>    Task Boundary</a:t>
            </a:r>
            <a:endParaRPr lang="en-US" altLang="zh-CN" sz="8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1716705" y="1562215"/>
            <a:ext cx="5746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Cambria" panose="02040503050406030204" charset="0"/>
                <a:cs typeface="Cambria" panose="02040503050406030204" charset="0"/>
              </a:rPr>
              <a:t>Trauma</a:t>
            </a:r>
            <a:endParaRPr lang="en-US" altLang="zh-CN" sz="8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35" name="椭圆 334"/>
          <p:cNvSpPr>
            <a:spLocks noChangeAspect="1"/>
          </p:cNvSpPr>
          <p:nvPr/>
        </p:nvSpPr>
        <p:spPr>
          <a:xfrm>
            <a:off x="492728" y="780416"/>
            <a:ext cx="168275" cy="1682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1562966" y="1842394"/>
            <a:ext cx="84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Belief </a:t>
            </a:r>
            <a:endParaRPr lang="en-US" altLang="zh-CN" sz="900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Distortion</a:t>
            </a:r>
            <a:endParaRPr lang="en-US" altLang="zh-CN" sz="900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1648643" y="2318615"/>
            <a:ext cx="6311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800" b="1" dirty="0">
                <a:latin typeface="Cambria" panose="02040503050406030204" charset="0"/>
                <a:cs typeface="Cambria" panose="02040503050406030204" charset="0"/>
              </a:rPr>
              <a:t>  </a:t>
            </a: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</a:rPr>
              <a:t>Safety</a:t>
            </a:r>
            <a:endParaRPr lang="en-US" altLang="zh-CN" sz="9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814688" y="524510"/>
            <a:ext cx="951865" cy="188595"/>
          </a:xfrm>
          <a:prstGeom prst="roundRect">
            <a:avLst>
              <a:gd name="adj" fmla="val 37860"/>
            </a:avLst>
          </a:prstGeom>
          <a:noFill/>
          <a:ln w="0"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Taxonomy</a:t>
            </a:r>
            <a:endParaRPr lang="en-US" altLang="zh-CN" sz="1100" b="1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55" name="圆角矩形 354"/>
          <p:cNvSpPr/>
          <p:nvPr/>
        </p:nvSpPr>
        <p:spPr>
          <a:xfrm>
            <a:off x="2588860" y="443865"/>
            <a:ext cx="2521585" cy="3847465"/>
          </a:xfrm>
          <a:prstGeom prst="roundRect">
            <a:avLst>
              <a:gd name="adj" fmla="val 4013"/>
            </a:avLst>
          </a:prstGeom>
          <a:noFill/>
          <a:ln w="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E6E6E6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B7B7B7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3028315" y="462280"/>
            <a:ext cx="17564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  <a:sym typeface="+mn-ea"/>
              </a:rPr>
              <a:t>LLM Generator</a:t>
            </a:r>
            <a:endParaRPr lang="en-US" altLang="zh-CN" sz="1000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5328250" y="443865"/>
            <a:ext cx="2047875" cy="3847465"/>
          </a:xfrm>
          <a:prstGeom prst="roundRect">
            <a:avLst>
              <a:gd name="adj" fmla="val 4013"/>
            </a:avLst>
          </a:prstGeom>
          <a:noFill/>
          <a:ln w="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58" name="圆角矩形 357"/>
          <p:cNvSpPr/>
          <p:nvPr/>
        </p:nvSpPr>
        <p:spPr>
          <a:xfrm>
            <a:off x="5718140" y="556896"/>
            <a:ext cx="1431960" cy="163830"/>
          </a:xfrm>
          <a:prstGeom prst="roundRect">
            <a:avLst>
              <a:gd name="adj" fmla="val 37860"/>
            </a:avLst>
          </a:prstGeom>
          <a:solidFill>
            <a:srgbClr val="E9F1E1"/>
          </a:solidFill>
          <a:ln w="0"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Quality Validation</a:t>
            </a:r>
            <a:endParaRPr lang="en-US" altLang="zh-CN" sz="1100" b="1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59" name="圆角矩形 358"/>
          <p:cNvSpPr/>
          <p:nvPr/>
        </p:nvSpPr>
        <p:spPr>
          <a:xfrm>
            <a:off x="5451440" y="971550"/>
            <a:ext cx="1802130" cy="317500"/>
          </a:xfrm>
          <a:prstGeom prst="roundRect">
            <a:avLst>
              <a:gd name="adj" fmla="val 16400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5618445" y="1008301"/>
            <a:ext cx="1892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charset="0"/>
                <a:cs typeface="Cambria" panose="02040503050406030204" charset="0"/>
              </a:rPr>
              <a:t>Topic &amp; Semantic Coherence</a:t>
            </a:r>
            <a:endParaRPr lang="en-US" altLang="zh-CN" sz="1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5607050" y="1402715"/>
            <a:ext cx="172656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Cambria" panose="02040503050406030204" charset="0"/>
                <a:cs typeface="Cambria" panose="02040503050406030204" charset="0"/>
                <a:sym typeface="+mn-ea"/>
              </a:rPr>
              <a:t>Context &amp; Persona Consistency</a:t>
            </a:r>
            <a:endParaRPr lang="en-US" altLang="zh-CN" sz="9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5650865" y="1796415"/>
            <a:ext cx="18694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Cambria" panose="02040503050406030204" charset="0"/>
                <a:cs typeface="Cambria" panose="02040503050406030204" charset="0"/>
              </a:rPr>
              <a:t>Adversarial Realism &amp; Validity</a:t>
            </a:r>
            <a:endParaRPr lang="en-US" altLang="zh-CN" sz="9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2948940" y="666750"/>
            <a:ext cx="2030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Cambria" panose="02040503050406030204" charset="0"/>
                <a:cs typeface="Cambria" panose="02040503050406030204" charset="0"/>
              </a:rPr>
              <a:t>Adversarial Multi-turn Interaction</a:t>
            </a:r>
            <a:endParaRPr lang="en-US" altLang="zh-CN" sz="9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7" name="文本框 366"/>
          <p:cNvSpPr txBox="1"/>
          <p:nvPr/>
        </p:nvSpPr>
        <p:spPr>
          <a:xfrm>
            <a:off x="2655853" y="856614"/>
            <a:ext cx="1054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Plant the Trap</a:t>
            </a:r>
            <a:endParaRPr lang="en-US" altLang="zh-CN" sz="1000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68" name="文本框 367"/>
          <p:cNvSpPr txBox="1"/>
          <p:nvPr/>
        </p:nvSpPr>
        <p:spPr>
          <a:xfrm>
            <a:off x="2660015" y="1836673"/>
            <a:ext cx="20313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Bury it in Noise</a:t>
            </a:r>
            <a:endParaRPr lang="en-US" altLang="zh-CN" sz="500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69" name="文本框 368"/>
          <p:cNvSpPr txBox="1"/>
          <p:nvPr/>
        </p:nvSpPr>
        <p:spPr>
          <a:xfrm>
            <a:off x="2716406" y="2784474"/>
            <a:ext cx="1146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Spring the Trap</a:t>
            </a:r>
            <a:endParaRPr lang="en-US" altLang="zh-CN" sz="1000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70" name="圆角矩形 369"/>
          <p:cNvSpPr/>
          <p:nvPr/>
        </p:nvSpPr>
        <p:spPr>
          <a:xfrm>
            <a:off x="5432554" y="2693670"/>
            <a:ext cx="1805305" cy="175260"/>
          </a:xfrm>
          <a:prstGeom prst="roundRect">
            <a:avLst>
              <a:gd name="adj" fmla="val 37860"/>
            </a:avLst>
          </a:prstGeom>
          <a:solidFill>
            <a:srgbClr val="E9F1E1"/>
          </a:solidFill>
          <a:ln w="0"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Two-Gate Quality Flow</a:t>
            </a:r>
            <a:endParaRPr lang="en-US" altLang="zh-CN" sz="1100" b="1" dirty="0"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371" name="文本框 370"/>
          <p:cNvSpPr txBox="1"/>
          <p:nvPr/>
        </p:nvSpPr>
        <p:spPr>
          <a:xfrm>
            <a:off x="5941660" y="3038037"/>
            <a:ext cx="1315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charset="0"/>
                <a:cs typeface="Cambria" panose="02040503050406030204" charset="0"/>
              </a:rPr>
              <a:t>AI-based filters</a:t>
            </a:r>
            <a:endParaRPr lang="en-US" altLang="zh-CN" sz="11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5728335" y="3765111"/>
            <a:ext cx="1584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charset="0"/>
                <a:cs typeface="Cambria" panose="02040503050406030204" charset="0"/>
              </a:rPr>
              <a:t>Human-Expert Review</a:t>
            </a:r>
            <a:endParaRPr lang="en-US" altLang="zh-CN" sz="1100" dirty="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373" name="直接箭头连接符 372"/>
          <p:cNvCxnSpPr/>
          <p:nvPr/>
        </p:nvCxnSpPr>
        <p:spPr>
          <a:xfrm flipH="1">
            <a:off x="6365205" y="3434715"/>
            <a:ext cx="3175" cy="250825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文本框 373"/>
          <p:cNvSpPr txBox="1"/>
          <p:nvPr/>
        </p:nvSpPr>
        <p:spPr>
          <a:xfrm>
            <a:off x="4656529" y="4238625"/>
            <a:ext cx="889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charset="0"/>
                <a:cs typeface="Cambria" panose="02040503050406030204" charset="0"/>
              </a:rPr>
              <a:t>reject/revise</a:t>
            </a:r>
            <a:endParaRPr lang="en-US" altLang="zh-CN" sz="1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77" name="圆角矩形 376"/>
          <p:cNvSpPr/>
          <p:nvPr/>
        </p:nvSpPr>
        <p:spPr>
          <a:xfrm>
            <a:off x="3060065" y="2088515"/>
            <a:ext cx="1852295" cy="2336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00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Draft a quick email about next week's schedule.</a:t>
            </a:r>
            <a:endParaRPr lang="en-US" altLang="zh-CN" sz="10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5447630" y="1352550"/>
            <a:ext cx="1802130" cy="317500"/>
          </a:xfrm>
          <a:prstGeom prst="roundRect">
            <a:avLst>
              <a:gd name="adj" fmla="val 16400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81" name="圆角矩形 380"/>
          <p:cNvSpPr/>
          <p:nvPr/>
        </p:nvSpPr>
        <p:spPr>
          <a:xfrm>
            <a:off x="5448265" y="1736725"/>
            <a:ext cx="1805305" cy="317500"/>
          </a:xfrm>
          <a:prstGeom prst="roundRect">
            <a:avLst>
              <a:gd name="adj" fmla="val 16400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265930" y="146050"/>
            <a:ext cx="2099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Cambria" panose="02040503050406030204" charset="0"/>
                <a:cs typeface="Cambria" panose="02040503050406030204" charset="0"/>
              </a:rPr>
              <a:t>Taxonomy &amp; Seed Inputs</a:t>
            </a:r>
            <a:endParaRPr lang="en-US" altLang="zh-CN" sz="12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2830830" y="146050"/>
            <a:ext cx="20364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Cambria" panose="02040503050406030204" charset="0"/>
                <a:cs typeface="Cambria" panose="02040503050406030204" charset="0"/>
                <a:sym typeface="+mn-ea"/>
              </a:rPr>
              <a:t>Adversarial Generation</a:t>
            </a:r>
            <a:endParaRPr lang="en-US" altLang="zh-CN" sz="12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5618480" y="146050"/>
            <a:ext cx="14547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Cambria" panose="02040503050406030204" charset="0"/>
                <a:cs typeface="Cambria" panose="02040503050406030204" charset="0"/>
                <a:sym typeface="+mn-ea"/>
              </a:rPr>
              <a:t>Quality Control</a:t>
            </a:r>
            <a:endParaRPr lang="en-US" altLang="zh-CN" sz="1200" b="1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391" name="图片 3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445" y="3021965"/>
            <a:ext cx="320675" cy="327025"/>
          </a:xfrm>
          <a:prstGeom prst="rect">
            <a:avLst/>
          </a:prstGeom>
        </p:spPr>
      </p:pic>
      <p:sp>
        <p:nvSpPr>
          <p:cNvPr id="392" name="圆角矩形 391"/>
          <p:cNvSpPr/>
          <p:nvPr/>
        </p:nvSpPr>
        <p:spPr>
          <a:xfrm>
            <a:off x="5563200" y="2974975"/>
            <a:ext cx="1612900" cy="417195"/>
          </a:xfrm>
          <a:prstGeom prst="roundRect">
            <a:avLst/>
          </a:prstGeom>
          <a:noFill/>
          <a:ln w="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zh-CN" sz="8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93" name="圆角矩形 392"/>
          <p:cNvSpPr/>
          <p:nvPr/>
        </p:nvSpPr>
        <p:spPr>
          <a:xfrm>
            <a:off x="5563235" y="3711575"/>
            <a:ext cx="1612900" cy="379095"/>
          </a:xfrm>
          <a:prstGeom prst="roundRect">
            <a:avLst/>
          </a:prstGeom>
          <a:noFill/>
          <a:ln w="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altLang="zh-CN" sz="80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394" name="图片 393" descr="专家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150" y="3742690"/>
            <a:ext cx="316865" cy="316865"/>
          </a:xfrm>
          <a:prstGeom prst="rect">
            <a:avLst/>
          </a:prstGeom>
        </p:spPr>
      </p:pic>
      <p:cxnSp>
        <p:nvCxnSpPr>
          <p:cNvPr id="395" name="肘形连接符 394"/>
          <p:cNvCxnSpPr>
            <a:stCxn id="393" idx="2"/>
            <a:endCxn id="355" idx="2"/>
          </p:cNvCxnSpPr>
          <p:nvPr/>
        </p:nvCxnSpPr>
        <p:spPr>
          <a:xfrm rot="5400000">
            <a:off x="5009515" y="2931160"/>
            <a:ext cx="200660" cy="2519680"/>
          </a:xfrm>
          <a:prstGeom prst="bentConnector3">
            <a:avLst>
              <a:gd name="adj1" fmla="val 218671"/>
            </a:avLst>
          </a:prstGeom>
          <a:ln w="9525">
            <a:solidFill>
              <a:srgbClr val="C0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6" name="图片 39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25" y="1493520"/>
            <a:ext cx="220980" cy="220980"/>
          </a:xfrm>
          <a:prstGeom prst="rect">
            <a:avLst/>
          </a:prstGeom>
        </p:spPr>
      </p:pic>
      <p:sp>
        <p:nvSpPr>
          <p:cNvPr id="397" name="圆角矩形 396"/>
          <p:cNvSpPr/>
          <p:nvPr/>
        </p:nvSpPr>
        <p:spPr>
          <a:xfrm>
            <a:off x="267335" y="1019810"/>
            <a:ext cx="2002790" cy="744855"/>
          </a:xfrm>
          <a:prstGeom prst="roundRect">
            <a:avLst>
              <a:gd name="adj" fmla="val 7488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440972" y="997373"/>
            <a:ext cx="1614522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(a) Within</a:t>
            </a:r>
            <a:r>
              <a:rPr lang="zh-CN" altLang="en-US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one</a:t>
            </a:r>
            <a:r>
              <a:rPr lang="zh-CN" altLang="en-US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type</a:t>
            </a:r>
            <a:r>
              <a:rPr lang="zh-CN" altLang="en-US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task</a:t>
            </a:r>
            <a:endParaRPr lang="en-US" altLang="zh-CN" sz="900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03" name="圆角矩形 402"/>
          <p:cNvSpPr/>
          <p:nvPr/>
        </p:nvSpPr>
        <p:spPr>
          <a:xfrm>
            <a:off x="2686015" y="2810299"/>
            <a:ext cx="2329850" cy="666115"/>
          </a:xfrm>
          <a:prstGeom prst="roundRect">
            <a:avLst>
              <a:gd name="adj" fmla="val 8653"/>
            </a:avLst>
          </a:prstGeom>
          <a:solidFill>
            <a:schemeClr val="bg1">
              <a:lumMod val="95000"/>
            </a:schemeClr>
          </a:solidFill>
          <a:ln w="9525">
            <a:noFill/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4" name="图片 40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50" y="483235"/>
            <a:ext cx="205105" cy="205105"/>
          </a:xfrm>
          <a:prstGeom prst="rect">
            <a:avLst/>
          </a:prstGeom>
        </p:spPr>
      </p:pic>
      <p:sp>
        <p:nvSpPr>
          <p:cNvPr id="405" name="文本框 404"/>
          <p:cNvSpPr txBox="1"/>
          <p:nvPr/>
        </p:nvSpPr>
        <p:spPr>
          <a:xfrm>
            <a:off x="265930" y="1790973"/>
            <a:ext cx="93191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 b="1" dirty="0">
                <a:latin typeface="Cambria" panose="02040503050406030204" charset="0"/>
                <a:cs typeface="Cambria" panose="02040503050406030204" charset="0"/>
                <a:sym typeface="+mn-ea"/>
              </a:rPr>
              <a:t>(b) Cross-task Fixation</a:t>
            </a:r>
            <a:endParaRPr lang="en-US" altLang="zh-CN" sz="900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3374390" y="2454910"/>
            <a:ext cx="1151255" cy="24511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>
                <a:latin typeface="Cambria" panose="02040503050406030204" charset="0"/>
                <a:cs typeface="Cambria" panose="02040503050406030204" charset="0"/>
                <a:sym typeface="+mn-ea"/>
              </a:rPr>
              <a:t>Sure - "Hi team...”</a:t>
            </a:r>
            <a:endParaRPr lang="en-US" altLang="zh-CN" sz="10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3130550" y="3078480"/>
            <a:ext cx="18611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000">
                <a:latin typeface="Cambria" panose="02040503050406030204" charset="0"/>
                <a:cs typeface="Cambria" panose="02040503050406030204" charset="0"/>
                <a:sym typeface="+mn-ea"/>
              </a:rPr>
              <a:t>innocent everyday question</a:t>
            </a:r>
            <a:endParaRPr lang="en-US" altLang="zh-CN" sz="10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89865" y="2851569"/>
            <a:ext cx="2224405" cy="1252855"/>
            <a:chOff x="189865" y="3037840"/>
            <a:chExt cx="2224405" cy="1252855"/>
          </a:xfrm>
        </p:grpSpPr>
        <p:sp>
          <p:nvSpPr>
            <p:cNvPr id="341" name="圆角矩形 340"/>
            <p:cNvSpPr/>
            <p:nvPr/>
          </p:nvSpPr>
          <p:spPr>
            <a:xfrm>
              <a:off x="229447" y="3037840"/>
              <a:ext cx="2101540" cy="1252855"/>
            </a:xfrm>
            <a:prstGeom prst="roundRect">
              <a:avLst>
                <a:gd name="adj" fmla="val 4013"/>
              </a:avLst>
            </a:prstGeom>
            <a:solidFill>
              <a:schemeClr val="bg1">
                <a:lumMod val="95000"/>
              </a:schemeClr>
            </a:solidFill>
            <a:ln w="0">
              <a:noFill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42" name="圆角矩形 341"/>
            <p:cNvSpPr/>
            <p:nvPr/>
          </p:nvSpPr>
          <p:spPr>
            <a:xfrm>
              <a:off x="701975" y="3098712"/>
              <a:ext cx="1173163" cy="188595"/>
            </a:xfrm>
            <a:prstGeom prst="roundRect">
              <a:avLst>
                <a:gd name="adj" fmla="val 37860"/>
              </a:avLst>
            </a:prstGeom>
            <a:noFill/>
            <a:ln w="0">
              <a:noFill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b="1" dirty="0">
                  <a:latin typeface="Cambria" panose="02040503050406030204" charset="0"/>
                  <a:ea typeface="微软雅黑" panose="020B0503020204020204" charset="-122"/>
                  <a:cs typeface="Cambria" panose="02040503050406030204" charset="0"/>
                </a:rPr>
                <a:t>Seed Inputs</a:t>
              </a:r>
              <a:endParaRPr lang="en-US" altLang="zh-CN" sz="1100" b="1" dirty="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endParaRPr>
            </a:p>
          </p:txBody>
        </p:sp>
        <p:sp>
          <p:nvSpPr>
            <p:cNvPr id="343" name="文本框 342"/>
            <p:cNvSpPr txBox="1"/>
            <p:nvPr/>
          </p:nvSpPr>
          <p:spPr>
            <a:xfrm>
              <a:off x="575945" y="3411220"/>
              <a:ext cx="574675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mbria" panose="02040503050406030204" charset="0"/>
                  <a:cs typeface="Cambria" panose="02040503050406030204" charset="0"/>
                </a:rPr>
                <a:t>Domain</a:t>
              </a:r>
              <a:endParaRPr lang="en-US" altLang="zh-CN" sz="900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44" name="文本框 343"/>
            <p:cNvSpPr txBox="1"/>
            <p:nvPr/>
          </p:nvSpPr>
          <p:spPr>
            <a:xfrm>
              <a:off x="189865" y="3590925"/>
              <a:ext cx="1153160" cy="18351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600" dirty="0">
                  <a:latin typeface="Cambria" panose="02040503050406030204" charset="0"/>
                  <a:cs typeface="Cambria" panose="02040503050406030204" charset="0"/>
                  <a:sym typeface="+mn-ea"/>
                </a:rPr>
                <a:t>e.g. Fire Safety, Travel Advice</a:t>
              </a:r>
              <a:endParaRPr lang="en-US" altLang="zh-CN" sz="600" dirty="0">
                <a:latin typeface="Cambria" panose="02040503050406030204" charset="0"/>
                <a:cs typeface="Cambria" panose="02040503050406030204" charset="0"/>
                <a:sym typeface="+mn-ea"/>
              </a:endParaRPr>
            </a:p>
          </p:txBody>
        </p:sp>
        <p:sp>
          <p:nvSpPr>
            <p:cNvPr id="347" name="圆角矩形 346"/>
            <p:cNvSpPr/>
            <p:nvPr/>
          </p:nvSpPr>
          <p:spPr>
            <a:xfrm>
              <a:off x="1325845" y="3373755"/>
              <a:ext cx="974725" cy="370205"/>
            </a:xfrm>
            <a:prstGeom prst="roundRect">
              <a:avLst>
                <a:gd name="adj" fmla="val 7488"/>
              </a:avLst>
            </a:prstGeom>
            <a:ln w="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48" name="圆角矩形 347"/>
            <p:cNvSpPr/>
            <p:nvPr/>
          </p:nvSpPr>
          <p:spPr>
            <a:xfrm>
              <a:off x="1325845" y="3832225"/>
              <a:ext cx="974725" cy="370205"/>
            </a:xfrm>
            <a:prstGeom prst="roundRect">
              <a:avLst>
                <a:gd name="adj" fmla="val 7488"/>
              </a:avLst>
            </a:prstGeom>
            <a:ln w="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1520190" y="3411220"/>
              <a:ext cx="831850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mbria" panose="02040503050406030204" charset="0"/>
                  <a:cs typeface="Cambria" panose="02040503050406030204" charset="0"/>
                </a:rPr>
                <a:t>Failure Type</a:t>
              </a:r>
              <a:endParaRPr lang="en-US" altLang="zh-CN" sz="900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50" name="文本框 349"/>
            <p:cNvSpPr txBox="1"/>
            <p:nvPr/>
          </p:nvSpPr>
          <p:spPr>
            <a:xfrm>
              <a:off x="1242695" y="3599180"/>
              <a:ext cx="1159510" cy="1682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500">
                  <a:latin typeface="Cambria" panose="02040503050406030204" charset="0"/>
                  <a:cs typeface="Cambria" panose="02040503050406030204" charset="0"/>
                  <a:sym typeface="+mn-ea"/>
                </a:rPr>
                <a:t>Which hijack mechanism to induce.</a:t>
              </a:r>
              <a:endParaRPr lang="en-US" altLang="zh-CN" sz="500">
                <a:latin typeface="Cambria" panose="02040503050406030204" charset="0"/>
                <a:cs typeface="Cambria" panose="02040503050406030204" charset="0"/>
                <a:sym typeface="+mn-ea"/>
              </a:endParaRPr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492125" y="3887470"/>
              <a:ext cx="786765" cy="213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800">
                  <a:latin typeface="Cambria" panose="02040503050406030204" charset="0"/>
                  <a:cs typeface="Cambria" panose="02040503050406030204" charset="0"/>
                </a:rPr>
                <a:t>Ground Truth</a:t>
              </a:r>
              <a:endParaRPr lang="en-US" altLang="zh-CN" sz="800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1504950" y="3867785"/>
              <a:ext cx="840105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900">
                  <a:latin typeface="Cambria" panose="02040503050406030204" charset="0"/>
                  <a:cs typeface="Cambria" panose="02040503050406030204" charset="0"/>
                </a:rPr>
                <a:t>Planted Prior</a:t>
              </a:r>
              <a:endParaRPr lang="en-US" altLang="zh-CN" sz="900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353" name="文本框 352"/>
            <p:cNvSpPr txBox="1"/>
            <p:nvPr/>
          </p:nvSpPr>
          <p:spPr>
            <a:xfrm>
              <a:off x="1258570" y="4076065"/>
              <a:ext cx="1155700" cy="1524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400">
                  <a:latin typeface="Cambria" panose="02040503050406030204" charset="0"/>
                  <a:cs typeface="Cambria" panose="02040503050406030204" charset="0"/>
                  <a:sym typeface="+mn-ea"/>
                </a:rPr>
                <a:t>The scoped rule or belief planted in history</a:t>
              </a:r>
              <a:endParaRPr lang="en-US" altLang="zh-CN" sz="400">
                <a:latin typeface="Cambria" panose="02040503050406030204" charset="0"/>
                <a:cs typeface="Cambria" panose="02040503050406030204" charset="0"/>
                <a:sym typeface="+mn-ea"/>
              </a:endParaRPr>
            </a:p>
          </p:txBody>
        </p:sp>
        <p:sp>
          <p:nvSpPr>
            <p:cNvPr id="354" name="文本框 353"/>
            <p:cNvSpPr txBox="1"/>
            <p:nvPr/>
          </p:nvSpPr>
          <p:spPr>
            <a:xfrm>
              <a:off x="236220" y="4067175"/>
              <a:ext cx="1044575" cy="1682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500">
                  <a:latin typeface="Cambria" panose="02040503050406030204" charset="0"/>
                  <a:cs typeface="Cambria" panose="02040503050406030204" charset="0"/>
                </a:rPr>
                <a:t>The objectively correct answer.</a:t>
              </a:r>
              <a:endParaRPr lang="en-US" altLang="zh-CN" sz="500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410" name="圆角矩形 409"/>
            <p:cNvSpPr/>
            <p:nvPr/>
          </p:nvSpPr>
          <p:spPr>
            <a:xfrm>
              <a:off x="267300" y="3373755"/>
              <a:ext cx="974725" cy="370205"/>
            </a:xfrm>
            <a:prstGeom prst="roundRect">
              <a:avLst>
                <a:gd name="adj" fmla="val 7488"/>
              </a:avLst>
            </a:prstGeom>
            <a:ln w="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mbria" panose="02040503050406030204" charset="0"/>
                <a:cs typeface="Cambria" panose="02040503050406030204" charset="0"/>
              </a:endParaRPr>
            </a:p>
          </p:txBody>
        </p:sp>
        <p:sp>
          <p:nvSpPr>
            <p:cNvPr id="411" name="圆角矩形 410"/>
            <p:cNvSpPr/>
            <p:nvPr/>
          </p:nvSpPr>
          <p:spPr>
            <a:xfrm>
              <a:off x="267300" y="3832225"/>
              <a:ext cx="974725" cy="370205"/>
            </a:xfrm>
            <a:prstGeom prst="roundRect">
              <a:avLst>
                <a:gd name="adj" fmla="val 7488"/>
              </a:avLst>
            </a:prstGeom>
            <a:ln w="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mbria" panose="02040503050406030204" charset="0"/>
                <a:cs typeface="Cambria" panose="02040503050406030204" charset="0"/>
              </a:endParaRPr>
            </a:p>
          </p:txBody>
        </p:sp>
        <p:pic>
          <p:nvPicPr>
            <p:cNvPr id="412" name="图片 411" descr="book_1008976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595" y="3411220"/>
              <a:ext cx="208280" cy="208280"/>
            </a:xfrm>
            <a:prstGeom prst="rect">
              <a:avLst/>
            </a:prstGeom>
          </p:spPr>
        </p:pic>
        <p:pic>
          <p:nvPicPr>
            <p:cNvPr id="413" name="图片 412" descr="balance_420119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0160" y="3823335"/>
              <a:ext cx="301625" cy="301625"/>
            </a:xfrm>
            <a:prstGeom prst="rect">
              <a:avLst/>
            </a:prstGeom>
          </p:spPr>
        </p:pic>
        <p:pic>
          <p:nvPicPr>
            <p:cNvPr id="414" name="图片 413" descr="错误类型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9980" y="3890645"/>
              <a:ext cx="213995" cy="200025"/>
            </a:xfrm>
            <a:prstGeom prst="rect">
              <a:avLst/>
            </a:prstGeom>
          </p:spPr>
        </p:pic>
        <p:pic>
          <p:nvPicPr>
            <p:cNvPr id="415" name="图片 414" descr="web_315935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65850" y="3411220"/>
              <a:ext cx="235585" cy="235585"/>
            </a:xfrm>
            <a:prstGeom prst="rect">
              <a:avLst/>
            </a:prstGeom>
          </p:spPr>
        </p:pic>
      </p:grpSp>
      <p:pic>
        <p:nvPicPr>
          <p:cNvPr id="416" name="图片 41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25" y="2446020"/>
            <a:ext cx="220980" cy="220980"/>
          </a:xfrm>
          <a:prstGeom prst="rect">
            <a:avLst/>
          </a:prstGeom>
        </p:spPr>
      </p:pic>
      <p:pic>
        <p:nvPicPr>
          <p:cNvPr id="417" name="图片 416" descr="咨询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8080" y="1091565"/>
            <a:ext cx="258445" cy="258445"/>
          </a:xfrm>
          <a:prstGeom prst="rect">
            <a:avLst/>
          </a:prstGeom>
        </p:spPr>
      </p:pic>
      <p:pic>
        <p:nvPicPr>
          <p:cNvPr id="418" name="图片 417" descr="咨询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8080" y="2104390"/>
            <a:ext cx="258445" cy="258445"/>
          </a:xfrm>
          <a:prstGeom prst="rect">
            <a:avLst/>
          </a:prstGeom>
        </p:spPr>
      </p:pic>
      <p:pic>
        <p:nvPicPr>
          <p:cNvPr id="419" name="图片 418" descr="咨询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8080" y="3079115"/>
            <a:ext cx="258445" cy="258445"/>
          </a:xfrm>
          <a:prstGeom prst="rect">
            <a:avLst/>
          </a:prstGeom>
        </p:spPr>
      </p:pic>
      <p:pic>
        <p:nvPicPr>
          <p:cNvPr id="420" name="图片 419" descr="trauma_489707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0602" y="1214023"/>
            <a:ext cx="332740" cy="332740"/>
          </a:xfrm>
          <a:prstGeom prst="rect">
            <a:avLst/>
          </a:prstGeom>
        </p:spPr>
      </p:pic>
      <p:pic>
        <p:nvPicPr>
          <p:cNvPr id="421" name="图片 420" descr="decision_94457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510" y="1228090"/>
            <a:ext cx="340360" cy="340360"/>
          </a:xfrm>
          <a:prstGeom prst="rect">
            <a:avLst/>
          </a:prstGeom>
        </p:spPr>
      </p:pic>
      <p:pic>
        <p:nvPicPr>
          <p:cNvPr id="422" name="图片 421" descr="E:/Desktop/图片1 (1).png图片1 (1)"/>
          <p:cNvPicPr>
            <a:picLocks noChangeAspect="1"/>
          </p:cNvPicPr>
          <p:nvPr/>
        </p:nvPicPr>
        <p:blipFill>
          <a:blip r:embed="rId12"/>
          <a:srcRect l="92" r="92"/>
          <a:stretch>
            <a:fillRect/>
          </a:stretch>
        </p:blipFill>
        <p:spPr>
          <a:xfrm>
            <a:off x="1421113" y="2273935"/>
            <a:ext cx="345440" cy="346710"/>
          </a:xfrm>
          <a:prstGeom prst="rect">
            <a:avLst/>
          </a:prstGeom>
        </p:spPr>
      </p:pic>
      <p:pic>
        <p:nvPicPr>
          <p:cNvPr id="423" name="图片 422" descr="Gemini_Generated_Image_yp0p23yp0p23yp0p-ezremove-ezremove"/>
          <p:cNvPicPr>
            <a:picLocks noChangeAspect="1"/>
          </p:cNvPicPr>
          <p:nvPr/>
        </p:nvPicPr>
        <p:blipFill>
          <a:blip r:embed="rId13"/>
          <a:srcRect l="2917" t="2954" r="2306" b="3056"/>
          <a:stretch>
            <a:fillRect/>
          </a:stretch>
        </p:blipFill>
        <p:spPr>
          <a:xfrm>
            <a:off x="563429" y="2142279"/>
            <a:ext cx="304865" cy="303742"/>
          </a:xfrm>
          <a:prstGeom prst="rect">
            <a:avLst/>
          </a:prstGeom>
        </p:spPr>
      </p:pic>
      <p:pic>
        <p:nvPicPr>
          <p:cNvPr id="424" name="图片 423" descr="approved-stamp_177629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5410" y="1019175"/>
            <a:ext cx="230505" cy="230505"/>
          </a:xfrm>
          <a:prstGeom prst="rect">
            <a:avLst/>
          </a:prstGeom>
        </p:spPr>
      </p:pic>
      <p:pic>
        <p:nvPicPr>
          <p:cNvPr id="425" name="图片 424" descr="approved-stamp_177629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5410" y="1395730"/>
            <a:ext cx="230505" cy="230505"/>
          </a:xfrm>
          <a:prstGeom prst="rect">
            <a:avLst/>
          </a:prstGeom>
        </p:spPr>
      </p:pic>
      <p:pic>
        <p:nvPicPr>
          <p:cNvPr id="426" name="图片 425" descr="approved-stamp_177629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5410" y="1772285"/>
            <a:ext cx="230505" cy="230505"/>
          </a:xfrm>
          <a:prstGeom prst="rect">
            <a:avLst/>
          </a:prstGeom>
        </p:spPr>
      </p:pic>
      <p:sp>
        <p:nvSpPr>
          <p:cNvPr id="427" name="文本框 426"/>
          <p:cNvSpPr txBox="1"/>
          <p:nvPr/>
        </p:nvSpPr>
        <p:spPr>
          <a:xfrm>
            <a:off x="5583555" y="742950"/>
            <a:ext cx="156654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 dirty="0">
                <a:latin typeface="Cambria" panose="02040503050406030204" charset="0"/>
                <a:cs typeface="Cambria" panose="02040503050406030204" charset="0"/>
                <a:sym typeface="+mn-ea"/>
              </a:rPr>
              <a:t>Four-Dimension Validation</a:t>
            </a:r>
            <a:endParaRPr lang="en-US" altLang="zh-CN" sz="900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29" name="圆角矩形 428"/>
          <p:cNvSpPr/>
          <p:nvPr/>
        </p:nvSpPr>
        <p:spPr>
          <a:xfrm>
            <a:off x="2686015" y="3564890"/>
            <a:ext cx="2307590" cy="666115"/>
          </a:xfrm>
          <a:prstGeom prst="roundRect">
            <a:avLst>
              <a:gd name="adj" fmla="val 8653"/>
            </a:avLst>
          </a:prstGeom>
          <a:ln w="9525">
            <a:solidFill>
              <a:schemeClr val="tx1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文本框 429"/>
          <p:cNvSpPr txBox="1"/>
          <p:nvPr/>
        </p:nvSpPr>
        <p:spPr>
          <a:xfrm>
            <a:off x="2807100" y="3534025"/>
            <a:ext cx="22865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latin typeface="Cambria" panose="02040503050406030204" charset="0"/>
                <a:cs typeface="Cambria" panose="02040503050406030204" charset="0"/>
              </a:rPr>
              <a:t>Dataset Instance Annotations</a:t>
            </a:r>
            <a:endParaRPr lang="en-US" altLang="zh-CN" sz="1100" b="1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3863305" y="3823335"/>
            <a:ext cx="1049020" cy="321945"/>
          </a:xfrm>
          <a:prstGeom prst="roundRect">
            <a:avLst/>
          </a:prstGeom>
          <a:solidFill>
            <a:srgbClr val="FCEE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2766060" y="3816562"/>
            <a:ext cx="931545" cy="198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chemeClr val="accent6">
                    <a:lumMod val="50000"/>
                  </a:schemeClr>
                </a:solidFill>
                <a:latin typeface="Cambria" panose="02040503050406030204" charset="0"/>
                <a:ea typeface="Arial" panose="020B0604020202020204" pitchFamily="34" charset="-122"/>
                <a:cs typeface="Cambria" panose="02040503050406030204" charset="0"/>
                <a:sym typeface="+mn-ea"/>
              </a:rPr>
              <a:t>√ </a:t>
            </a:r>
            <a:r>
              <a:rPr lang="en-US" altLang="zh-CN" sz="700" b="1" dirty="0">
                <a:solidFill>
                  <a:schemeClr val="accent6">
                    <a:lumMod val="50000"/>
                  </a:schemeClr>
                </a:solidFill>
                <a:latin typeface="Cambria" panose="02040503050406030204" charset="0"/>
                <a:ea typeface="Arial" panose="020B0604020202020204" pitchFamily="34" charset="-122"/>
                <a:cs typeface="Cambria" panose="02040503050406030204" charset="0"/>
                <a:sym typeface="+mn-ea"/>
              </a:rPr>
              <a:t>Gold Standard</a:t>
            </a:r>
            <a:endParaRPr lang="en-US" altLang="zh-CN" sz="700" b="1" dirty="0">
              <a:solidFill>
                <a:schemeClr val="accent6">
                  <a:lumMod val="50000"/>
                </a:schemeClr>
              </a:solidFill>
              <a:latin typeface="Cambria" panose="02040503050406030204" charset="0"/>
              <a:ea typeface="Arial" panose="020B0604020202020204" pitchFamily="34" charset="-122"/>
              <a:cs typeface="Cambria" panose="02040503050406030204" charset="0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2722810" y="3930545"/>
            <a:ext cx="96012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>
                <a:latin typeface="Cambria" panose="02040503050406030204" charset="0"/>
                <a:cs typeface="Cambria" panose="02040503050406030204" charset="0"/>
                <a:sym typeface="+mn-ea"/>
              </a:rPr>
              <a:t>ignore memory</a:t>
            </a:r>
            <a:endParaRPr lang="en-US" altLang="zh-CN" sz="9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3795395" y="3796665"/>
            <a:ext cx="121348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DE1211"/>
                </a:solidFill>
                <a:latin typeface="Cambria" panose="02040503050406030204" charset="0"/>
                <a:ea typeface="Arial" panose="020B0604020202020204" pitchFamily="34" charset="-122"/>
                <a:cs typeface="Cambria" panose="02040503050406030204" charset="0"/>
              </a:rPr>
              <a:t>× </a:t>
            </a:r>
            <a:r>
              <a:rPr lang="en-US" altLang="zh-CN" sz="700" b="1" dirty="0">
                <a:solidFill>
                  <a:srgbClr val="DE1211"/>
                </a:solidFill>
                <a:latin typeface="Cambria" panose="02040503050406030204" charset="0"/>
                <a:ea typeface="Arial" panose="020B0604020202020204" pitchFamily="34" charset="-122"/>
                <a:cs typeface="Cambria" panose="02040503050406030204" charset="0"/>
              </a:rPr>
              <a:t>Expected Failure Mode</a:t>
            </a:r>
            <a:endParaRPr lang="en-US" altLang="zh-CN" sz="700" b="1" dirty="0">
              <a:solidFill>
                <a:srgbClr val="DE1211"/>
              </a:solidFill>
              <a:latin typeface="Cambria" panose="02040503050406030204" charset="0"/>
              <a:ea typeface="Arial" panose="020B0604020202020204" pitchFamily="34" charset="-122"/>
              <a:cs typeface="Cambria" panose="02040503050406030204" charset="0"/>
            </a:endParaRPr>
          </a:p>
        </p:txBody>
      </p:sp>
      <p:sp>
        <p:nvSpPr>
          <p:cNvPr id="435" name="文本框 434"/>
          <p:cNvSpPr txBox="1"/>
          <p:nvPr/>
        </p:nvSpPr>
        <p:spPr>
          <a:xfrm>
            <a:off x="3835400" y="3922395"/>
            <a:ext cx="11303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00">
                <a:latin typeface="Cambria" panose="02040503050406030204" charset="0"/>
                <a:cs typeface="Cambria" panose="02040503050406030204" charset="0"/>
                <a:sym typeface="+mn-ea"/>
              </a:rPr>
              <a:t>follow false prior</a:t>
            </a:r>
            <a:endParaRPr lang="en-US" altLang="zh-CN" sz="9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8755" y="2494915"/>
            <a:ext cx="119062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>
                <a:latin typeface="Cambria" panose="02040503050406030204" charset="0"/>
                <a:cs typeface="Cambria" panose="02040503050406030204" charset="0"/>
              </a:rPr>
              <a:t>Use previous task rules</a:t>
            </a:r>
            <a:endParaRPr lang="en-US" altLang="zh-CN" sz="7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67335" y="1819911"/>
            <a:ext cx="923925" cy="880110"/>
          </a:xfrm>
          <a:prstGeom prst="roundRect">
            <a:avLst>
              <a:gd name="adj" fmla="val 7488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0740" y="1170940"/>
            <a:ext cx="1139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mbria" panose="02040503050406030204" charset="0"/>
                <a:cs typeface="Cambria" panose="02040503050406030204" charset="0"/>
              </a:rPr>
              <a:t>Overgeneralizes strategies due to past negative feedback.</a:t>
            </a:r>
            <a:endParaRPr lang="en-US" altLang="zh-CN" sz="8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451440" y="2128520"/>
            <a:ext cx="1805305" cy="317500"/>
          </a:xfrm>
          <a:prstGeom prst="roundRect">
            <a:avLst>
              <a:gd name="adj" fmla="val 16400"/>
            </a:avLst>
          </a:prstGeom>
          <a:ln w="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6" name="图片 5" descr="approved-stamp_177629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68585" y="2164080"/>
            <a:ext cx="230505" cy="2305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683250" y="2170430"/>
            <a:ext cx="37846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>
                <a:latin typeface="Cambria" panose="02040503050406030204" charset="0"/>
                <a:cs typeface="Cambria" panose="02040503050406030204" charset="0"/>
              </a:rPr>
              <a:t> No-Memory Solvability</a:t>
            </a:r>
            <a:endParaRPr lang="en-US" altLang="zh-CN" sz="9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371250" y="2090769"/>
            <a:ext cx="222616" cy="255349"/>
          </a:xfrm>
          <a:prstGeom prst="rightArrow">
            <a:avLst/>
          </a:pr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5108040" y="2090769"/>
            <a:ext cx="222616" cy="255349"/>
          </a:xfrm>
          <a:prstGeom prst="rightArrow">
            <a:avLst/>
          </a:pr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2" name="椭圆 11"/>
          <p:cNvSpPr>
            <a:spLocks noChangeAspect="1"/>
          </p:cNvSpPr>
          <p:nvPr/>
        </p:nvSpPr>
        <p:spPr>
          <a:xfrm>
            <a:off x="1394527" y="1943245"/>
            <a:ext cx="168275" cy="1682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Cambria" panose="02040503050406030204" charset="0"/>
              <a:ea typeface="微软雅黑" panose="020B0503020204020204" charset="-122"/>
              <a:cs typeface="Cambria" panose="02040503050406030204" charset="0"/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3121025" y="1091565"/>
            <a:ext cx="1746250" cy="313055"/>
          </a:xfrm>
          <a:prstGeom prst="wedgeRoundRectCallout">
            <a:avLst>
              <a:gd name="adj1" fmla="val -60981"/>
              <a:gd name="adj2" fmla="val 9229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81655" y="1040765"/>
            <a:ext cx="1876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000">
                <a:latin typeface="Cambria" panose="02040503050406030204" charset="0"/>
                <a:cs typeface="Cambria" panose="02040503050406030204" charset="0"/>
                <a:sym typeface="+mn-ea"/>
              </a:rPr>
              <a:t>a false premise / rule / trauma - framed as authoritative</a:t>
            </a:r>
            <a:endParaRPr lang="en-US" altLang="zh-CN" sz="10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4" name="圆角矩形标注 13"/>
          <p:cNvSpPr/>
          <p:nvPr/>
        </p:nvSpPr>
        <p:spPr>
          <a:xfrm>
            <a:off x="3354705" y="1482090"/>
            <a:ext cx="1162050" cy="267335"/>
          </a:xfrm>
          <a:prstGeom prst="wedgeRoundRectCallout">
            <a:avLst>
              <a:gd name="adj1" fmla="val 69753"/>
              <a:gd name="adj2" fmla="val 13657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58820" y="1489075"/>
            <a:ext cx="13373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000">
                <a:latin typeface="Cambria" panose="02040503050406030204" charset="0"/>
                <a:cs typeface="Cambria" panose="02040503050406030204" charset="0"/>
                <a:sym typeface="+mn-ea"/>
              </a:rPr>
              <a:t>accepts &amp; restates it</a:t>
            </a:r>
            <a:endParaRPr lang="en-US" altLang="zh-CN" sz="10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3119120" y="2054225"/>
            <a:ext cx="1746250" cy="313055"/>
          </a:xfrm>
          <a:prstGeom prst="wedgeRoundRectCallout">
            <a:avLst>
              <a:gd name="adj1" fmla="val -60981"/>
              <a:gd name="adj2" fmla="val 9229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8" name="圆角矩形标注 17"/>
          <p:cNvSpPr/>
          <p:nvPr/>
        </p:nvSpPr>
        <p:spPr>
          <a:xfrm>
            <a:off x="3354705" y="2446020"/>
            <a:ext cx="1162050" cy="267335"/>
          </a:xfrm>
          <a:prstGeom prst="wedgeRoundRectCallout">
            <a:avLst>
              <a:gd name="adj1" fmla="val 69753"/>
              <a:gd name="adj2" fmla="val 13657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658745" y="2786380"/>
            <a:ext cx="11303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>
                <a:latin typeface="Cambria" panose="02040503050406030204" charset="0"/>
                <a:ea typeface="微软雅黑" panose="020B0503020204020204" charset="-122"/>
                <a:cs typeface="Cambria" panose="02040503050406030204" charset="0"/>
                <a:sym typeface="+mn-ea"/>
              </a:rPr>
              <a:t>Spring the Trap</a:t>
            </a:r>
            <a:endParaRPr lang="en-US" altLang="zh-CN" sz="1000">
              <a:latin typeface="Cambria" panose="02040503050406030204" charset="0"/>
              <a:ea typeface="微软雅黑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圆角矩形标注 19"/>
          <p:cNvSpPr/>
          <p:nvPr/>
        </p:nvSpPr>
        <p:spPr>
          <a:xfrm>
            <a:off x="3119120" y="3051810"/>
            <a:ext cx="1746250" cy="313055"/>
          </a:xfrm>
          <a:prstGeom prst="wedgeRoundRectCallout">
            <a:avLst>
              <a:gd name="adj1" fmla="val -60981"/>
              <a:gd name="adj2" fmla="val 9229"/>
              <a:gd name="adj3" fmla="val 1666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benchmark_pipeline</Template>
  <TotalTime>0</TotalTime>
  <Words>1062</Words>
  <Application>WPS 演示</Application>
  <PresentationFormat>自定义</PresentationFormat>
  <Paragraphs>103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Cambria</vt:lpstr>
      <vt:lpstr>微软雅黑</vt:lpstr>
      <vt:lpstr>Arial</vt:lpstr>
      <vt:lpstr>等线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luoluo luo</dc:creator>
  <cp:lastModifiedBy>「罗昊哲」</cp:lastModifiedBy>
  <cp:revision>61</cp:revision>
  <dcterms:created xsi:type="dcterms:W3CDTF">2026-07-26T09:50:00Z</dcterms:created>
  <dcterms:modified xsi:type="dcterms:W3CDTF">2026-09-04T13:13:37Z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04E2DCB4388F452193A44FB2F7A369E0_12</vt:lpwstr>
  </property>
  <property fmtid="{D5CDD505-2E9C-101B-9397-08002B2CF9AE}" pid="3" name="KSOProductBuildVer">
    <vt:lpwstr>2052-12.1.0.28599</vt:lpwstr>
  </property>
</Properties>
</file>